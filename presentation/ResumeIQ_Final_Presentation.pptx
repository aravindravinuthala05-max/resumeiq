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ResumeIQ is a resume intelligence workflow: Analyze, Understand, Improve, Prepare, and Get Hired. It combines parsing, ATS-oriented analysis, evidence, recommendations, rewriting, interview preparation, and PDF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resume contains useful facts, but candidates need to know which facts matter for a particular job. ResumeIQ gives one guided, explainable report based on deterministic rules and extracted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Manual review takes time, and generic keyword matching does not show which requirements are supported or missing. The system also protects against rewriting that invents experience or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Candidates often use separate ATS, advice, and interview tools whose outputs do not share evidence. ResumeIQ brings these activities into one transparent and testable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proposed system accepts a resume and job description, extracts text, analyzes sections, calculates ATS results, and builds an evidence-aware report with improvement and preparation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objectives are extraction, JD comparison, traceable evidence, practical priorities, safe rewrites, grounded questions, and delivery through a dashboard and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backend uses Python and Flask; PyPDF2 extracts PDF text; ZIP/XML handles DOCX; ReportLab creates reports. The stack is lightweight and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separates validation, extraction, analysis, scoring, evidence, recommendations, and presentation. This modularity keeps the pipeline clear and independently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user uploads a PDF or DOCX resume and supplies a JD, then follows the dashboard from analysis and understanding to improvements, preparation, and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Focused modules cover parsing, sections, analyzers, matching, scoring, evidence, advisor, rewriting, interview preparation, dashboard, and PDF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weighted ATS result and JD matching are distinct. Skills supported by both resume and JD are matched; a JD-only requirement remains missing and unsupported.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preserves the value, type, section, source text, and metadata where supported. The dashboard separates resume skills, matched skills, missing JD skills, and evidence-backed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advisor provides prioritized recommendations with evidence. The deterministic rewriter improves wording and formatting while preserving factual boundaries and exact original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questions come from supported projects, experience, technologies, education, certifications, achievements, JD gaps, and generic behavioral prompts. A JD gap is framed as a clarification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continuous dashboard summarizes the analysis and retains detailed sections. The backend-generated PDF is a portable static report with clear analysis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verified checkpoint is 134 tests passed and zero failed. Tests cover normal and hostile inputs, security controls, browser flow, and PDF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ResumeIQ offers an explainable route from resume upload to job preparation. Future work can add history, authentication, stronger layout extraction, and privacy-controlled optional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5"/>
          </a:solidFill>
          <a:ln>
            <a:solidFill>
              <a:srgbClr val="0F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9728" cy="5303520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24128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ResumeIQ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64792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C1E0ED"/>
                </a:solidFill>
                <a:latin typeface="Aptos"/>
              </a:rPr>
              <a:t>AI Resume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8716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Analyze  •  Improve  •  Get Hired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127248"/>
            <a:ext cx="5029200" cy="2743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493008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1E0ED"/>
                </a:solidFill>
                <a:latin typeface="Aptos"/>
              </a:rPr>
              <a:t>Presented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Aravind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24528"/>
            <a:ext cx="5486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7F0"/>
                </a:solidFill>
                <a:latin typeface="Aptos"/>
              </a:rPr>
              <a:t>B.Tech — Artificial Intelligence &amp; Machine Learning
Centurion University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234440"/>
            <a:ext cx="2468880" cy="329184"/>
          </a:xfrm>
          <a:prstGeom prst="roundRect">
            <a:avLst/>
          </a:prstGeom>
          <a:solidFill>
            <a:srgbClr val="E2F0FB"/>
          </a:solidFill>
          <a:ln>
            <a:solidFill>
              <a:srgbClr val="E2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PARSE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94560"/>
            <a:ext cx="2468880" cy="329184"/>
          </a:xfrm>
          <a:prstGeom prst="roundRect">
            <a:avLst/>
          </a:prstGeom>
          <a:solidFill>
            <a:srgbClr val="CDEEEB"/>
          </a:solidFill>
          <a:ln>
            <a:solidFill>
              <a:srgbClr val="C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154680"/>
            <a:ext cx="2468880" cy="329184"/>
          </a:xfrm>
          <a:prstGeom prst="roundRect">
            <a:avLst/>
          </a:prstGeom>
          <a:solidFill>
            <a:srgbClr val="E2F0FB"/>
          </a:solidFill>
          <a:ln>
            <a:solidFill>
              <a:srgbClr val="E2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IMPROVE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114800"/>
            <a:ext cx="2468880" cy="329184"/>
          </a:xfrm>
          <a:prstGeom prst="roundRect">
            <a:avLst/>
          </a:prstGeom>
          <a:solidFill>
            <a:srgbClr val="CDEEEB"/>
          </a:solidFill>
          <a:ln>
            <a:solidFill>
              <a:srgbClr val="C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14476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CDCF"/>
                </a:solidFill>
                <a:latin typeface="Aptos"/>
              </a:rPr>
              <a:t>DETERMINISTIC • RULE-BASED • EVIDENCE-AWARE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Resumes contain useful evidence, but it is difficult to review quickly.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Candidates need role-specific feedback—not only a generic score.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ResumeIQ connects analysis, job matching, improvement guidance, and preparation.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17320"/>
            <a:ext cx="1874519" cy="786384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22008" y="166420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17320"/>
            <a:ext cx="1874519" cy="786384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3728" y="166420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834640"/>
            <a:ext cx="1874519" cy="786384"/>
          </a:xfrm>
          <a:prstGeom prst="roundRect">
            <a:avLst/>
          </a:prstGeom>
          <a:solidFill>
            <a:srgbClr val="178559"/>
          </a:solidFill>
          <a:ln>
            <a:solidFill>
              <a:srgbClr val="178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2008" y="308152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IMPROVE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1874519" cy="786384"/>
          </a:xfrm>
          <a:prstGeom prst="roundRect">
            <a:avLst/>
          </a:prstGeom>
          <a:solidFill>
            <a:srgbClr val="D28419"/>
          </a:solidFill>
          <a:ln>
            <a:solidFill>
              <a:srgbClr val="D28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308152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70916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Explainable results from extracted text, known rules, and resume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5715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Manual resume review is time-consuming.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Candidates may miss important job-description requirements.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Generic advice may not connect to actual resume facts.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Unsafe rewriting can accidentally invent skills or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417320"/>
            <a:ext cx="4251960" cy="3474720"/>
          </a:xfrm>
          <a:prstGeom prst="roundRect">
            <a:avLst/>
          </a:prstGeom>
          <a:solidFill>
            <a:srgbClr val="F4F8FC"/>
          </a:solidFill>
          <a:ln>
            <a:solidFill>
              <a:srgbClr val="C1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F35"/>
                </a:solidFill>
                <a:latin typeface="Aptos"/>
              </a:rPr>
              <a:t>Resume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783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F35"/>
                </a:solidFill>
                <a:latin typeface="Aptos"/>
              </a:rPr>
              <a:t>Job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423160"/>
            <a:ext cx="3291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A7A"/>
                </a:solidFill>
                <a:latin typeface="Aptos"/>
              </a:rPr>
              <a:t>? Supported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87184" y="2743200"/>
            <a:ext cx="3566160" cy="18288"/>
          </a:xfrm>
          <a:prstGeom prst="rect">
            <a:avLst/>
          </a:prstGeom>
          <a:solidFill>
            <a:srgbClr val="C1D2E1"/>
          </a:solidFill>
          <a:ln>
            <a:solidFill>
              <a:srgbClr val="C1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999232"/>
            <a:ext cx="3291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A7A"/>
                </a:solidFill>
                <a:latin typeface="Aptos"/>
              </a:rPr>
              <a:t>? Missing requirements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87184" y="3319272"/>
            <a:ext cx="3566160" cy="18288"/>
          </a:xfrm>
          <a:prstGeom prst="rect">
            <a:avLst/>
          </a:prstGeom>
          <a:solidFill>
            <a:srgbClr val="C1D2E1"/>
          </a:solidFill>
          <a:ln>
            <a:solidFill>
              <a:srgbClr val="C1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575304"/>
            <a:ext cx="3291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A7A"/>
                </a:solidFill>
                <a:latin typeface="Aptos"/>
              </a:rPr>
              <a:t>? Safe improvements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7184" y="3895344"/>
            <a:ext cx="3566160" cy="18288"/>
          </a:xfrm>
          <a:prstGeom prst="rect">
            <a:avLst/>
          </a:prstGeom>
          <a:solidFill>
            <a:srgbClr val="C1D2E1"/>
          </a:solidFill>
          <a:ln>
            <a:solidFill>
              <a:srgbClr val="C1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F35"/>
                </a:solidFill>
                <a:latin typeface="Aptos"/>
              </a:rPr>
              <a:t>Fragmented candidate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292608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C1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1F35"/>
                </a:solidFill>
                <a:latin typeface="Aptos"/>
              </a:rPr>
              <a:t>ATS Checker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A7A"/>
                </a:solidFill>
                <a:latin typeface="Aptos"/>
              </a:rPr>
              <a:t>limited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21608" y="2670048"/>
            <a:ext cx="512064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2011680"/>
            <a:ext cx="292608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C1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1F35"/>
                </a:solidFill>
                <a:latin typeface="Aptos"/>
              </a:rPr>
              <a:t>Advice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6148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A7A"/>
                </a:solidFill>
                <a:latin typeface="Aptos"/>
              </a:rPr>
              <a:t>generic feedback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33488" y="2670048"/>
            <a:ext cx="512064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01000" y="2011680"/>
            <a:ext cx="292608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C1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33172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1F35"/>
                </a:solidFill>
                <a:latin typeface="Aptos"/>
              </a:rPr>
              <a:t>Interview Prep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76148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A7A"/>
                </a:solidFill>
                <a:latin typeface="Aptos"/>
              </a:rPr>
              <a:t>separate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51960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D28419"/>
                </a:solidFill>
                <a:latin typeface="Aptos"/>
              </a:rPr>
              <a:t>Challenge: outputs may not share the same evidence or factual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623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One upload for resume and target JD.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Modular analysis, ATS matching, and structured evidence.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Evidence-backed advice, factual rewrite preview, and interview questions.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Continuous dashboard and PDF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4773168"/>
            <a:ext cx="3657600" cy="329184"/>
          </a:xfrm>
          <a:prstGeom prst="roundRect">
            <a:avLst/>
          </a:prstGeom>
          <a:solidFill>
            <a:srgbClr val="CDEEEB"/>
          </a:solidFill>
          <a:ln>
            <a:solidFill>
              <a:srgbClr val="C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ONE GUIDED WORKFLOW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98448"/>
            <a:ext cx="44805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07492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813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909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90472"/>
            <a:ext cx="3931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Extract PDF/DOCX resume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507492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909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90472"/>
            <a:ext cx="3931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Compare supported skills with JD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07492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529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909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62072"/>
            <a:ext cx="3931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Preserve traceable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606040"/>
            <a:ext cx="507492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8529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9097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862072"/>
            <a:ext cx="3931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Prioritize actionable improvements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39"/>
            <a:ext cx="507492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24527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9097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33672"/>
            <a:ext cx="3931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Generate safe rewrites &amp; questions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977639"/>
            <a:ext cx="507492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24527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9097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233672"/>
            <a:ext cx="3931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Deliver dashboard + PDF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154680" cy="123444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7335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30552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Python • 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154680" cy="123444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67335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130552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PyPDF2 • ZIP/XML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417320"/>
            <a:ext cx="3154680" cy="1234440"/>
          </a:xfrm>
          <a:prstGeom prst="roundRect">
            <a:avLst/>
          </a:prstGeom>
          <a:solidFill>
            <a:srgbClr val="178559"/>
          </a:solidFill>
          <a:ln>
            <a:solidFill>
              <a:srgbClr val="178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167335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130552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ReportLab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46120"/>
            <a:ext cx="3154680" cy="1234440"/>
          </a:xfrm>
          <a:prstGeom prst="roundRect">
            <a:avLst/>
          </a:prstGeom>
          <a:solidFill>
            <a:srgbClr val="D28419"/>
          </a:solidFill>
          <a:ln>
            <a:solidFill>
              <a:srgbClr val="D28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50215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959352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46120"/>
            <a:ext cx="3154680" cy="1234440"/>
          </a:xfrm>
          <a:prstGeom prst="roundRect">
            <a:avLst/>
          </a:prstGeom>
          <a:solidFill>
            <a:srgbClr val="0F1F35"/>
          </a:solidFill>
          <a:ln>
            <a:solidFill>
              <a:srgbClr val="0F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350215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3959352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pytest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285232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F35"/>
                </a:solidFill>
                <a:latin typeface="Aptos"/>
              </a:rPr>
              <a:t>Lightweight, deterministic application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9947" y="1060704"/>
            <a:ext cx="2971800" cy="2743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5667" y="1126540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390" y="1335024"/>
            <a:ext cx="0" cy="118871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09947" y="1453895"/>
            <a:ext cx="2971800" cy="2743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5667" y="1519732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RESUME UPLOAD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390" y="1728216"/>
            <a:ext cx="0" cy="118872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09947" y="1847088"/>
            <a:ext cx="2971800" cy="2743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5667" y="1912924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RESUME PARSER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390" y="2121408"/>
            <a:ext cx="0" cy="118872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09947" y="2240280"/>
            <a:ext cx="2971800" cy="2743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5667" y="2306116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SECTION DETECTION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390" y="2514600"/>
            <a:ext cx="0" cy="118872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09947" y="2633472"/>
            <a:ext cx="2971800" cy="2743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5667" y="2699308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ATS + JD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390" y="2907791"/>
            <a:ext cx="0" cy="118873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609947" y="3026663"/>
            <a:ext cx="2971800" cy="2743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5667" y="3092500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ANALYZERS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5390" y="3300983"/>
            <a:ext cx="0" cy="118873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09947" y="3419856"/>
            <a:ext cx="2971800" cy="2743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5667" y="3485692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RESUME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390" y="3694176"/>
            <a:ext cx="0" cy="118872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92727" y="3813048"/>
            <a:ext cx="4206240" cy="2743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38447" y="3878884"/>
            <a:ext cx="4114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ADVISOR + SKILLS INTELLIGENCE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5390" y="4087368"/>
            <a:ext cx="0" cy="118872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609947" y="4206240"/>
            <a:ext cx="2971800" cy="2743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55667" y="4272076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REWRITER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5390" y="4480559"/>
            <a:ext cx="0" cy="118872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992727" y="4599432"/>
            <a:ext cx="4206240" cy="2743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8447" y="4665268"/>
            <a:ext cx="4114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INTERVIEW GENERATOR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95390" y="4873752"/>
            <a:ext cx="0" cy="118872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609947" y="4992624"/>
            <a:ext cx="2971800" cy="2743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5667" y="5058460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95390" y="5266944"/>
            <a:ext cx="0" cy="118872"/>
          </a:xfrm>
          <a:prstGeom prst="line">
            <a:avLst/>
          </a:prstGeom>
          <a:ln w="29209">
            <a:solidFill>
              <a:srgbClr val="6D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609947" y="5385816"/>
            <a:ext cx="2971800" cy="2743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55667" y="5451652"/>
            <a:ext cx="28803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PDF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00760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A7A"/>
                </a:solidFill>
                <a:latin typeface="Aptos"/>
              </a:rPr>
              <a:t>Deterministic analysis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Application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353312" cy="9601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Upload
Resume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587752"/>
            <a:ext cx="256033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67128" y="2103120"/>
            <a:ext cx="1353312" cy="9601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2404872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Add JD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38728" y="2587752"/>
            <a:ext cx="256032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31336" y="2103120"/>
            <a:ext cx="1353312" cy="9601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2776" y="2404872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02936" y="2587752"/>
            <a:ext cx="256032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95544" y="2103120"/>
            <a:ext cx="1353312" cy="9601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6983" y="2404872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67144" y="2587752"/>
            <a:ext cx="256032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59752" y="2103120"/>
            <a:ext cx="1353312" cy="9601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2404872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Improve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31352" y="2587752"/>
            <a:ext cx="256032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23960" y="2103120"/>
            <a:ext cx="1353312" cy="960120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404872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Prepare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95560" y="2587752"/>
            <a:ext cx="256032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488168" y="2103120"/>
            <a:ext cx="1353312" cy="960120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9608" y="2404872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160520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F1F35"/>
                </a:solidFill>
                <a:latin typeface="Aptos"/>
              </a:rPr>
              <a:t>A guided path from input to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Core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984248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709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29097"/>
                </a:solidFill>
                <a:latin typeface="Aptos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709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F1F35"/>
                </a:solidFill>
                <a:latin typeface="Aptos"/>
              </a:rPr>
              <a:t>resume_parser.py
section_detector.py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670048"/>
            <a:ext cx="228600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98648" y="1645920"/>
            <a:ext cx="1984248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965960"/>
            <a:ext cx="1709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29097"/>
                </a:solidFill>
                <a:latin typeface="Aptos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14600"/>
            <a:ext cx="1709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F1F35"/>
                </a:solidFill>
                <a:latin typeface="Aptos"/>
              </a:rPr>
              <a:t>independent analyzers
ats_engine.py • score_engine.py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10328" y="2670048"/>
            <a:ext cx="228600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02936" y="1645920"/>
            <a:ext cx="1984248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1965960"/>
            <a:ext cx="1709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29097"/>
                </a:solidFill>
                <a:latin typeface="Aptos"/>
              </a:rPr>
              <a:t>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1709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F1F35"/>
                </a:solidFill>
                <a:latin typeface="Aptos"/>
              </a:rPr>
              <a:t>resume_evidence.py
resume_advisor.py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14616" y="2670048"/>
            <a:ext cx="228600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07224" y="1645920"/>
            <a:ext cx="1984248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4384" y="1965960"/>
            <a:ext cx="1709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29097"/>
                </a:solidFill>
                <a:latin typeface="Aptos"/>
              </a:rPr>
              <a:t>Improve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4" y="2514600"/>
            <a:ext cx="1709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F1F35"/>
                </a:solidFill>
                <a:latin typeface="Aptos"/>
              </a:rPr>
              <a:t>resume_rewriter.py
interview_generator.py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18904" y="2670048"/>
            <a:ext cx="228600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11512" y="1645920"/>
            <a:ext cx="1984248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1965960"/>
            <a:ext cx="1709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29097"/>
                </a:solidFill>
                <a:latin typeface="Aptos"/>
              </a:rPr>
              <a:t>Present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514600"/>
            <a:ext cx="1709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F1F35"/>
                </a:solidFill>
                <a:latin typeface="Aptos"/>
              </a:rPr>
              <a:t>Flask dashboard
PDF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8006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F1F35"/>
                </a:solidFill>
                <a:latin typeface="Aptos"/>
              </a:rPr>
              <a:t>Focused responsibilities—not one opaque component.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ATS &amp; Job Description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98448"/>
            <a:ext cx="2971800" cy="352044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A7A"/>
                </a:solidFill>
                <a:latin typeface="Aptos"/>
              </a:rPr>
              <a:t>WEIGHTED ATS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129097"/>
                </a:solidFill>
                <a:latin typeface="Aptos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F35"/>
                </a:solidFill>
                <a:latin typeface="Aptos"/>
              </a:rPr>
              <a:t>Skills 40  •  Projects 15
Experience 15  •  Education 10
Sections 10  •  Formatting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298448"/>
            <a:ext cx="7086600" cy="352044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JD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148840"/>
            <a:ext cx="2971800" cy="329184"/>
          </a:xfrm>
          <a:prstGeom prst="roundRect">
            <a:avLst/>
          </a:prstGeom>
          <a:solidFill>
            <a:srgbClr val="CDEEEB"/>
          </a:solidFill>
          <a:ln>
            <a:solidFill>
              <a:srgbClr val="C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MATCHED: supported by both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2743200"/>
            <a:ext cx="2971800" cy="329184"/>
          </a:xfrm>
          <a:prstGeom prst="roundRect">
            <a:avLst/>
          </a:prstGeom>
          <a:solidFill>
            <a:srgbClr val="FFEDD1"/>
          </a:solidFill>
          <a:ln>
            <a:solidFill>
              <a:srgbClr val="FFE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MISSING: not supported by resume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38144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A7A"/>
                </a:solidFill>
                <a:latin typeface="Aptos"/>
              </a:rPr>
              <a:t>Related technologies remain related—not exact matches.</a:t>
            </a:r>
          </a:p>
        </p:txBody>
      </p:sp>
      <p:pic>
        <p:nvPicPr>
          <p:cNvPr id="16" name="Picture 15" descr="02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011680"/>
            <a:ext cx="301752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Resume Evidence &amp; Skills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Evidence preserves value, type, section, source text, and metadata where supported.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Skills Intelligence distinguishes four evidence-aware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98448"/>
            <a:ext cx="2304288" cy="1024128"/>
          </a:xfrm>
          <a:prstGeom prst="roundRect">
            <a:avLst/>
          </a:prstGeom>
          <a:solidFill>
            <a:srgbClr val="1F61AB"/>
          </a:solidFill>
          <a:ln>
            <a:solidFill>
              <a:srgbClr val="1F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54480"/>
            <a:ext cx="208483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Resume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298448"/>
            <a:ext cx="2304288" cy="1024128"/>
          </a:xfrm>
          <a:prstGeom prst="roundRect">
            <a:avLst/>
          </a:prstGeom>
          <a:solidFill>
            <a:srgbClr val="178559"/>
          </a:solidFill>
          <a:ln>
            <a:solidFill>
              <a:srgbClr val="178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8" y="1554480"/>
            <a:ext cx="208483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JD-Matched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715768"/>
            <a:ext cx="2304288" cy="1024128"/>
          </a:xfrm>
          <a:prstGeom prst="roundRect">
            <a:avLst/>
          </a:prstGeom>
          <a:solidFill>
            <a:srgbClr val="D28419"/>
          </a:solidFill>
          <a:ln>
            <a:solidFill>
              <a:srgbClr val="D28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971800"/>
            <a:ext cx="208483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Missing JD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2715768"/>
            <a:ext cx="2304288" cy="1024128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3688" y="2971800"/>
            <a:ext cx="208483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Evidence-Backed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1F35"/>
                </a:solidFill>
                <a:latin typeface="Aptos"/>
              </a:rPr>
              <a:t>JD-only technologies are never presented as confirmed candidate skills.</a:t>
            </a:r>
          </a:p>
        </p:txBody>
      </p:sp>
      <p:pic>
        <p:nvPicPr>
          <p:cNvPr id="17" name="Picture 16" descr="03_ski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160520"/>
            <a:ext cx="475488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Resume Advisor &amp; Rewriter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074920" cy="406908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526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1F35"/>
                </a:solidFill>
                <a:latin typeface="Aptos"/>
              </a:rPr>
              <a:t>RESUME ADVISOR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21408"/>
            <a:ext cx="1051560" cy="329184"/>
          </a:xfrm>
          <a:prstGeom prst="roundRect">
            <a:avLst/>
          </a:prstGeom>
          <a:solidFill>
            <a:srgbClr val="CA4C48"/>
          </a:solidFill>
          <a:ln>
            <a:solidFill>
              <a:srgbClr val="CA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A7A"/>
                </a:solidFill>
                <a:latin typeface="Aptos"/>
              </a:rPr>
              <a:t>priority • section • source •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15768"/>
            <a:ext cx="1051560" cy="329184"/>
          </a:xfrm>
          <a:prstGeom prst="roundRect">
            <a:avLst/>
          </a:prstGeom>
          <a:solidFill>
            <a:srgbClr val="D28419"/>
          </a:solidFill>
          <a:ln>
            <a:solidFill>
              <a:srgbClr val="D28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8892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A7A"/>
                </a:solidFill>
                <a:latin typeface="Aptos"/>
              </a:rPr>
              <a:t>priority • section • source •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310128"/>
            <a:ext cx="1051560" cy="329184"/>
          </a:xfrm>
          <a:prstGeom prst="roundRect">
            <a:avLst/>
          </a:prstGeom>
          <a:solidFill>
            <a:srgbClr val="178559"/>
          </a:solidFill>
          <a:ln>
            <a:solidFill>
              <a:srgbClr val="178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38328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A7A"/>
                </a:solidFill>
                <a:latin typeface="Aptos"/>
              </a:rPr>
              <a:t>priority • section • source •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F35"/>
                </a:solidFill>
                <a:latin typeface="Aptos"/>
              </a:rPr>
              <a:t>Evidence-backed, actionable recommendations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074920" cy="4069080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4526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1F35"/>
                </a:solidFill>
                <a:latin typeface="Aptos"/>
              </a:rPr>
              <a:t>RULE-BASED REWRITER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48840"/>
            <a:ext cx="4114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Aptos"/>
              </a:rPr>
              <a:t>Original text remains exact
Improve wording and clarity
Reject or revert unsupported 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343400"/>
            <a:ext cx="3200400" cy="329184"/>
          </a:xfrm>
          <a:prstGeom prst="roundRect">
            <a:avLst/>
          </a:prstGeom>
          <a:solidFill>
            <a:srgbClr val="CDEEEB"/>
          </a:solidFill>
          <a:ln>
            <a:solidFill>
              <a:srgbClr val="C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F35"/>
                </a:solidFill>
                <a:latin typeface="Aptos"/>
              </a:rPr>
              <a:t>FACTUAL-SAFETY CHECK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681728"/>
            <a:ext cx="4709160" cy="585216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681728"/>
            <a:ext cx="470916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Interview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331720" cy="658368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2093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9097"/>
                </a:solidFill>
                <a:latin typeface="Aptos"/>
              </a:rPr>
              <a:t>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331720" cy="658368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1" y="1444752"/>
            <a:ext cx="2093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9097"/>
                </a:solidFill>
                <a:latin typeface="Aptos"/>
              </a:rPr>
              <a:t>Technology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2331720" cy="658368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44752"/>
            <a:ext cx="2093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9097"/>
                </a:solidFill>
                <a:latin typeface="Aptos"/>
              </a:rPr>
              <a:t>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234440"/>
            <a:ext cx="2331720" cy="658368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444752"/>
            <a:ext cx="2093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9097"/>
                </a:solidFill>
                <a:latin typeface="Aptos"/>
              </a:rPr>
              <a:t>Education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86000"/>
            <a:ext cx="2331720" cy="658368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496312"/>
            <a:ext cx="2093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9097"/>
                </a:solidFill>
                <a:latin typeface="Aptos"/>
              </a:rPr>
              <a:t>Certifications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286000"/>
            <a:ext cx="2331720" cy="658368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1" y="2496312"/>
            <a:ext cx="2093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9097"/>
                </a:solidFill>
                <a:latin typeface="Aptos"/>
              </a:rPr>
              <a:t>Achievements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286000"/>
            <a:ext cx="2331720" cy="658368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496312"/>
            <a:ext cx="2093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9097"/>
                </a:solidFill>
                <a:latin typeface="Aptos"/>
              </a:rPr>
              <a:t>JD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2286000"/>
            <a:ext cx="2331720" cy="658368"/>
          </a:xfrm>
          <a:prstGeom prst="roundRect">
            <a:avLst/>
          </a:prstGeom>
          <a:solidFill>
            <a:srgbClr val="F4F8FC"/>
          </a:solidFill>
          <a:ln>
            <a:solidFill>
              <a:srgbClr val="D5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496312"/>
            <a:ext cx="2093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9097"/>
                </a:solidFill>
                <a:latin typeface="Aptos"/>
              </a:rPr>
              <a:t>Behavioral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77639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F35"/>
                </a:solidFill>
                <a:latin typeface="Aptos"/>
              </a:rPr>
              <a:t>Grounded prompts use supported resume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62272"/>
            <a:ext cx="8869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A7A"/>
                </a:solidFill>
                <a:latin typeface="Aptos"/>
              </a:rPr>
              <a:t>JD-gap prompts ask for clarification; they do not assume unsupported experience.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010912"/>
            <a:ext cx="352044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Dashboard &amp; PDF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093208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Continuous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509320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Portable static analysis report</a:t>
            </a:r>
          </a:p>
        </p:txBody>
      </p:sp>
      <p:pic>
        <p:nvPicPr>
          <p:cNvPr id="13" name="Picture 12" descr="02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234440"/>
            <a:ext cx="5074920" cy="361188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234440"/>
            <a:ext cx="50749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Testing, Security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4937760" cy="3154680"/>
          </a:xfrm>
          <a:prstGeom prst="roundRect">
            <a:avLst/>
          </a:prstGeom>
          <a:solidFill>
            <a:srgbClr val="0F1F35"/>
          </a:solidFill>
          <a:ln>
            <a:solidFill>
              <a:srgbClr val="0F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09928"/>
            <a:ext cx="4297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ptos"/>
              </a:rPr>
              <a:t>134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42032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B8E8D8"/>
                </a:solidFill>
                <a:latin typeface="Aptos"/>
              </a:rPr>
              <a:t>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0472" y="3218688"/>
            <a:ext cx="3520440" cy="502920"/>
          </a:xfrm>
          <a:prstGeom prst="roundRect">
            <a:avLst/>
          </a:prstGeom>
          <a:solidFill>
            <a:srgbClr val="178559"/>
          </a:solidFill>
          <a:ln>
            <a:solidFill>
              <a:srgbClr val="178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364992"/>
            <a:ext cx="3291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 TESTS 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6187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8559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29844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Security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37943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8559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874519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Edge-case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8559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450591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Browser end-to-end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90088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8559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026664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PDF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8559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602736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F35"/>
                </a:solidFill>
                <a:latin typeface="Aptos"/>
              </a:rPr>
              <a:t>Invalid input handling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F35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987552" cy="41148"/>
          </a:xfrm>
          <a:prstGeom prst="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ResumeIQ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A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F1F35"/>
                </a:solidFill>
                <a:latin typeface="Aptos"/>
              </a:rPr>
              <a:t>A complete, explainable path from resume upload to job preparation.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1737360" cy="621792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58568"/>
            <a:ext cx="15910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0048" y="2368296"/>
            <a:ext cx="274320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35808" y="2057400"/>
            <a:ext cx="1737360" cy="621792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58568"/>
            <a:ext cx="15910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91456" y="2368296"/>
            <a:ext cx="274320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57216" y="2057400"/>
            <a:ext cx="1737360" cy="621792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258568"/>
            <a:ext cx="15910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Improve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368296"/>
            <a:ext cx="274319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78623" y="2057400"/>
            <a:ext cx="1737360" cy="621792"/>
          </a:xfrm>
          <a:prstGeom prst="roundRect">
            <a:avLst/>
          </a:prstGeom>
          <a:solidFill>
            <a:srgbClr val="129097"/>
          </a:solidFill>
          <a:ln>
            <a:solidFill>
              <a:srgbClr val="12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2258568"/>
            <a:ext cx="15910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Prepare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34272" y="2368296"/>
            <a:ext cx="274320" cy="0"/>
          </a:xfrm>
          <a:prstGeom prst="line">
            <a:avLst/>
          </a:prstGeom>
          <a:ln w="29209">
            <a:solidFill>
              <a:srgbClr val="D284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00032" y="2057400"/>
            <a:ext cx="1737360" cy="621792"/>
          </a:xfrm>
          <a:prstGeom prst="roundRect">
            <a:avLst/>
          </a:prstGeom>
          <a:solidFill>
            <a:srgbClr val="178559"/>
          </a:solidFill>
          <a:ln>
            <a:solidFill>
              <a:srgbClr val="178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2258568"/>
            <a:ext cx="15910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Get Hired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3075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9097"/>
                </a:solidFill>
                <a:latin typeface="Aptos"/>
              </a:rPr>
              <a:t>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14800"/>
            <a:ext cx="7863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User history and authentication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Stronger document layout extraction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Optional integrations with privacy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6634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1F35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